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CAD1"/>
    <a:srgbClr val="FFFDFE"/>
    <a:srgbClr val="031E49"/>
    <a:srgbClr val="4599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07" autoAdjust="0"/>
  </p:normalViewPr>
  <p:slideViewPr>
    <p:cSldViewPr snapToGrid="0" snapToObjects="1">
      <p:cViewPr varScale="1">
        <p:scale>
          <a:sx n="111" d="100"/>
          <a:sy n="111" d="100"/>
        </p:scale>
        <p:origin x="39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14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EC450-13E1-7103-FA27-C2DE767A1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69098D-5B8D-8955-2B1B-C52943E7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95F64C-0ADE-C394-1889-E901C3808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34BD2E-91BA-8376-022E-D616CFBC07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466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1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34174" y="1706910"/>
            <a:ext cx="42755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459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to Electric</a:t>
            </a:r>
            <a:endParaRPr lang="en-US" sz="4500" dirty="0">
              <a:solidFill>
                <a:srgbClr val="4599FE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2352995" y="2545073"/>
            <a:ext cx="443801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America's Path to Market Leadership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69349" y="3169816"/>
            <a:ext cx="4805301" cy="266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B8C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focus on Hybrid/Electric models for Q2 2026</a:t>
            </a:r>
            <a:endParaRPr lang="en-US" sz="1500" dirty="0">
              <a:solidFill>
                <a:srgbClr val="B8CAD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D00F75-9D3A-2804-00C3-E064C93E4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400" y="459347"/>
            <a:ext cx="1005088" cy="10050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1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63" y="609563"/>
            <a:ext cx="808337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59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2700" dirty="0">
              <a:solidFill>
                <a:srgbClr val="4599FE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09563" y="1249598"/>
            <a:ext cx="8083372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BMW EuroDrive faces inconsistent sales classifications across global regions despite a robust portfolio.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288" y="1718183"/>
            <a:ext cx="7620149" cy="984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High-performance models struggling in regions with fuel price spikes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Overstocked inventory in underperforming regions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 Price-to-Mileage efficiency drivers for "High“ sales classification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1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>
            <a:extLst>
              <a:ext uri="{FF2B5EF4-FFF2-40B4-BE49-F238E27FC236}">
                <a16:creationId xmlns:a16="http://schemas.microsoft.com/office/drawing/2014/main" id="{B41B650A-121F-D857-E221-2846EF5001C2}"/>
              </a:ext>
            </a:extLst>
          </p:cNvPr>
          <p:cNvSpPr/>
          <p:nvPr/>
        </p:nvSpPr>
        <p:spPr>
          <a:xfrm>
            <a:off x="609563" y="2636043"/>
            <a:ext cx="7924874" cy="1066429"/>
          </a:xfrm>
          <a:prstGeom prst="rect">
            <a:avLst/>
          </a:prstGeom>
          <a:solidFill>
            <a:srgbClr val="FFFDFE">
              <a:alpha val="41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9B8ACC54-B95C-7C86-3C92-0F0EAF311C04}"/>
              </a:ext>
            </a:extLst>
          </p:cNvPr>
          <p:cNvSpPr/>
          <p:nvPr/>
        </p:nvSpPr>
        <p:spPr>
          <a:xfrm>
            <a:off x="609563" y="4022489"/>
            <a:ext cx="7924874" cy="1066429"/>
          </a:xfrm>
          <a:prstGeom prst="rect">
            <a:avLst/>
          </a:prstGeom>
          <a:solidFill>
            <a:srgbClr val="FFFDFE">
              <a:alpha val="41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613108" y="1249597"/>
            <a:ext cx="7924874" cy="1066429"/>
          </a:xfrm>
          <a:prstGeom prst="rect">
            <a:avLst/>
          </a:prstGeom>
          <a:solidFill>
            <a:srgbClr val="FFFDFE">
              <a:alpha val="41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3108" y="609563"/>
            <a:ext cx="808337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59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2700" dirty="0">
              <a:solidFill>
                <a:srgbClr val="4599FE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914288" y="1367693"/>
            <a:ext cx="7461732" cy="319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FFFD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2100" dirty="0">
              <a:solidFill>
                <a:srgbClr val="FFFDFE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914288" y="1805694"/>
            <a:ext cx="7461732" cy="434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sales data from 2010 to 2024 across Europe, North America, Asia, Africa, Middle East and South America.</a:t>
            </a:r>
            <a:endParaRPr lang="en-US" sz="1200" dirty="0">
              <a:solidFill>
                <a:srgbClr val="B8CAD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4288" y="2849352"/>
            <a:ext cx="7461732" cy="319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FFFD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Variables</a:t>
            </a:r>
            <a:endParaRPr lang="en-US" sz="2100" dirty="0">
              <a:solidFill>
                <a:srgbClr val="FFFDFE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914288" y="3321621"/>
            <a:ext cx="7461732" cy="213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type, Mileage KM, Region, Price, Model, Year, Sales Classification</a:t>
            </a:r>
            <a:endParaRPr lang="en-US" sz="1200" dirty="0">
              <a:solidFill>
                <a:srgbClr val="B8CAD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288" y="4205435"/>
            <a:ext cx="7461732" cy="319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FFFD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Region</a:t>
            </a:r>
            <a:endParaRPr lang="en-US" sz="2100" dirty="0">
              <a:solidFill>
                <a:srgbClr val="FFFDFE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288" y="4648124"/>
            <a:ext cx="7461732" cy="213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America market analysis with emphasis on fuel type performance and price</a:t>
            </a:r>
            <a:endParaRPr lang="en-US" sz="1200" dirty="0">
              <a:solidFill>
                <a:srgbClr val="B8CAD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1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63" y="609563"/>
            <a:ext cx="7924874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59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Insights: Hybrid/Electric Vehicles</a:t>
            </a:r>
            <a:endParaRPr lang="en-US" sz="2700" dirty="0">
              <a:solidFill>
                <a:srgbClr val="4599FE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F918D3-81FC-B9EE-C507-824CF025F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010" y="1159099"/>
            <a:ext cx="6837980" cy="37766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E4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5CEDD9-0695-B744-38FF-DD8DFA027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0C0D4C7-3922-1C78-33B5-66A270199062}"/>
              </a:ext>
            </a:extLst>
          </p:cNvPr>
          <p:cNvSpPr/>
          <p:nvPr/>
        </p:nvSpPr>
        <p:spPr>
          <a:xfrm>
            <a:off x="609563" y="609563"/>
            <a:ext cx="7924874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40"/>
              </a:lnSpc>
            </a:pPr>
            <a:r>
              <a:rPr lang="en-US" sz="2700" b="1" dirty="0">
                <a:solidFill>
                  <a:srgbClr val="459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Insights: ICE Vehicles</a:t>
            </a:r>
            <a:endParaRPr lang="en-US" sz="2700" dirty="0">
              <a:solidFill>
                <a:srgbClr val="4599FE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365269-D11C-42E7-F8FC-409068AB7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427" y="1094704"/>
            <a:ext cx="6785145" cy="3778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93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1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63" y="609563"/>
            <a:ext cx="808337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59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Metrics</a:t>
            </a:r>
            <a:endParaRPr lang="en-US" sz="2700" dirty="0">
              <a:solidFill>
                <a:srgbClr val="4599FE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914288" y="1249598"/>
            <a:ext cx="7620149" cy="2206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Hybrid/Electric vehicles</a:t>
            </a:r>
          </a:p>
          <a:p>
            <a:pPr marL="800100" lvl="1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Sales Classification Rate: 30.29%</a:t>
            </a:r>
          </a:p>
          <a:p>
            <a:pPr marL="342900" indent="-342900">
              <a:lnSpc>
                <a:spcPts val="2430"/>
              </a:lnSpc>
              <a:buSzPct val="100000"/>
              <a:buFontTx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 vehicles</a:t>
            </a:r>
          </a:p>
          <a:p>
            <a:pPr marL="800100" lvl="1" indent="-342900">
              <a:lnSpc>
                <a:spcPts val="2430"/>
              </a:lnSpc>
              <a:buSzPct val="100000"/>
              <a:buFontTx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Sales Classification Rate: 30.29%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&amp; Electric lead with 2,128+ units sold each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Series and X3 are top-performing models by volume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High-mileage vehicles sustain strong sales at $75K avg price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1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63" y="609563"/>
            <a:ext cx="808337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59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2700" dirty="0">
              <a:solidFill>
                <a:srgbClr val="4599FE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914288" y="1249598"/>
            <a:ext cx="7620149" cy="187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Q2 inventory to 7 Series (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eg.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750e xDrive, M760e xDrive) and X3 (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eg.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30e xDrive) Hybrid configurations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tiered pricing for EVs exceeding 150,000 KM (since original battery warranties last 8 years or 160,000 KM)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pricing slightly below $75K for high-mileage units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7 Series and X3 Hybrids as "efficiency leader" in high fuel-price regions</a:t>
            </a:r>
            <a:endParaRPr lang="en-US" sz="1350" dirty="0"/>
          </a:p>
        </p:txBody>
      </p:sp>
      <p:pic>
        <p:nvPicPr>
          <p:cNvPr id="1026" name="Picture 2" descr="BMW X3 (G45) 2025: Plug-in-Hybrid und Diesel im ADAC Test">
            <a:extLst>
              <a:ext uri="{FF2B5EF4-FFF2-40B4-BE49-F238E27FC236}">
                <a16:creationId xmlns:a16="http://schemas.microsoft.com/office/drawing/2014/main" id="{4B276AAC-0507-0FE3-944E-BB0135EB63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8748" y="3640428"/>
            <a:ext cx="2216240" cy="1108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BMW 7 Series Plug-In Hybrid Can't Beat The EV">
            <a:extLst>
              <a:ext uri="{FF2B5EF4-FFF2-40B4-BE49-F238E27FC236}">
                <a16:creationId xmlns:a16="http://schemas.microsoft.com/office/drawing/2014/main" id="{B9728B88-C0A8-2E01-6375-3925AF9CE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207" y="3640428"/>
            <a:ext cx="2216240" cy="1108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MW Malaysia Launches 750e xDrive Hybrids; Prices Start From RM649,800 -  Lowyat.NET">
            <a:extLst>
              <a:ext uri="{FF2B5EF4-FFF2-40B4-BE49-F238E27FC236}">
                <a16:creationId xmlns:a16="http://schemas.microsoft.com/office/drawing/2014/main" id="{6CF2F0EF-B3A3-2F0E-1694-3B6490696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288" y="3640428"/>
            <a:ext cx="1657618" cy="1105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1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1700" y="1804020"/>
            <a:ext cx="2340601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459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>
              <a:solidFill>
                <a:srgbClr val="4599FE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080608" y="2581238"/>
            <a:ext cx="982784" cy="266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545497" y="3152626"/>
            <a:ext cx="2053007" cy="186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B8C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BMW EuroDrive Leadership Team</a:t>
            </a:r>
            <a:endParaRPr lang="en-US" sz="1050" dirty="0">
              <a:solidFill>
                <a:srgbClr val="B8CAD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268</Words>
  <Application>Microsoft Office PowerPoint</Application>
  <PresentationFormat>On-screen Show (16:9)</PresentationFormat>
  <Paragraphs>41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Hsiao Jiet</cp:lastModifiedBy>
  <cp:revision>2</cp:revision>
  <dcterms:created xsi:type="dcterms:W3CDTF">2026-02-15T02:12:46Z</dcterms:created>
  <dcterms:modified xsi:type="dcterms:W3CDTF">2026-02-15T02:55:53Z</dcterms:modified>
</cp:coreProperties>
</file>